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7" r:id="rId18"/>
    <p:sldId id="263" r:id="rId14"/>
    <p:sldId id="264" r:id="rId15"/>
    <p:sldId id="265" r:id="rId16"/>
    <p:sldId id="266" r:id="rId17"/>
  </p:sldIdLst>
  <p:sldSz cx="1216152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PREPARED FOR L&amp;D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A2B4A"/>
                </a:solidFill>
                <a:latin typeface="Calibri"/>
              </a:rPr>
              <a:t>WattWise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089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0">
                <a:solidFill>
                  <a:srgbClr val="334155"/>
                </a:solidFill>
                <a:latin typeface="Calibri"/>
              </a:rPr>
              <a:t>Agentic energy intelligence for commercial facilities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3931920"/>
            <a:ext cx="5852160" cy="0"/>
          </a:xfrm>
          <a:prstGeom prst="line">
            <a:avLst/>
          </a:prstGeom>
          <a:ln w="31750">
            <a:solidFill>
              <a:srgbClr val="27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1605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Problem  |  Functional scope  |  Architecture  |  Implementation  |  AI leverage  |  Scenarios  | 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Prepared by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6035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60350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IMPACT pSiddhi 3.0  |  S4-I-14  |  10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40">
                <a:solidFill>
                  <a:srgbClr val="28B3B4"/>
                </a:solidFill>
                <a:latin typeface="Calibri"/>
              </a:rPr>
              <a:t>KNOW YOUR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1F1F"/>
                </a:solidFill>
                <a:latin typeface="Calibri"/>
              </a:rPr>
              <a:t>Energy intelligence for commercial &amp; industrial facilities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727A"/>
                </a:solidFill>
                <a:latin typeface="Calibri"/>
              </a:rPr>
              <a:t>How the industry works today, where the AI fits, and what the end-user gets.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1945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28B3B4"/>
                </a:solidFill>
                <a:latin typeface="Calibri"/>
              </a:rPr>
              <a:t>THE BUSINESS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1F1F"/>
                </a:solidFill>
                <a:latin typeface="Calibri"/>
              </a:rPr>
              <a:t>Commercial &amp; industrial facilities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8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E1F1F"/>
                </a:solidFill>
                <a:latin typeface="Calibri"/>
              </a:rPr>
              <a:t>Office HQs, warehouses, data centres, factories. They pay a 2-part electricity bill in India: units used (kWh) AND the single highest spike (kW demand charge). A 3-facility customer spends ~₹8 lakhs/month on power.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399" y="21945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79" y="233172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E0A93D"/>
                </a:solidFill>
                <a:latin typeface="Calibri"/>
              </a:rPr>
              <a:t>WHAT BREAKS TODAY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79" y="26517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1F1F"/>
                </a:solidFill>
                <a:latin typeface="Calibri"/>
              </a:rPr>
              <a:t>Energy is managed reactively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3063240"/>
            <a:ext cx="338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E1F1F"/>
                </a:solidFill>
                <a:latin typeface="Calibri"/>
              </a:rPr>
              <a:t>Peak demand charges = 30-40% of the bill, nobody actively manages them. Equipment faults are spotted only after the bill arrives. Facility managers juggle 3-5 vendor portals, 10+ hrs/week per site on reporting.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598" y="2194560"/>
            <a:ext cx="3749039" cy="2011680"/>
          </a:xfrm>
          <a:prstGeom prst="roundRect">
            <a:avLst>
              <a:gd name="adj" fmla="val 8000"/>
            </a:avLst>
          </a:prstGeom>
          <a:solidFill>
            <a:srgbClr val="E6F4EC"/>
          </a:solidFill>
          <a:ln w="9525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8" y="2331720"/>
            <a:ext cx="33832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2FAF6B"/>
                </a:solidFill>
                <a:latin typeface="Calibri"/>
              </a:rPr>
              <a:t>WHAT THE END USER GETS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8" y="2651760"/>
            <a:ext cx="33832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0E1F1F"/>
                </a:solidFill>
                <a:latin typeface="Calibri"/>
              </a:rPr>
              <a:t>AI advises, human decides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78" y="3063240"/>
            <a:ext cx="33832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0E1F1F"/>
                </a:solidFill>
                <a:latin typeface="Calibri"/>
              </a:rPr>
              <a:t>Every morning: 3 ranked recommendations in plain English with ₹ impact. One click to approve. BMS acts in 90 seconds. Facility manager spends ~15 min/day instead of hours.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526280"/>
            <a:ext cx="11274552" cy="1645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90">
                <a:solidFill>
                  <a:srgbClr val="0E1F1F"/>
                </a:solidFill>
                <a:latin typeface="Calibri"/>
              </a:rPr>
              <a:t>HOW IoT + BMS WORKS IN A REAL BUILDING  ·  WattWise AI sits in the middle of this loop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8B3B4"/>
          </a:solidFill>
          <a:ln w="9525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2376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Smart meters
+ sensors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measure kW every 15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8019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287524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278380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8B3B4"/>
          </a:solidFill>
          <a:ln w="9525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278380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33244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MQTT broker
or IoT Hub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3244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collects every reading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94023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43528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834384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8B3B4"/>
          </a:solidFill>
          <a:ln w="9525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4384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9248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ClickHouse 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9248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stores time-series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0027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99532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390388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90388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5252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WattWise AI
4 agents + 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45252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spots problems,
writes advice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6031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55536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946392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2FAF6B"/>
          </a:solidFill>
          <a:ln w="9525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946392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01256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Dashboard
+ operator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01256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reviews, clicks Approve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2035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511540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02396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E0A93D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502396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7260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ActionHandler
+ audit log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57260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records decision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18039" y="5478780"/>
            <a:ext cx="132892" cy="20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5E727A"/>
                </a:solidFill>
                <a:latin typeface="Calibri"/>
              </a:rPr>
              <a:t>→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067544" y="5120640"/>
            <a:ext cx="1389888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58400" y="5020056"/>
            <a:ext cx="201168" cy="201168"/>
          </a:xfrm>
          <a:prstGeom prst="roundRect">
            <a:avLst>
              <a:gd name="adj" fmla="val 50000"/>
            </a:avLst>
          </a:prstGeom>
          <a:solidFill>
            <a:srgbClr val="03514D"/>
          </a:solidFill>
          <a:ln w="9525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0" y="5020056"/>
            <a:ext cx="201168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13264" y="5193792"/>
            <a:ext cx="129844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0E1F1F"/>
                </a:solidFill>
                <a:latin typeface="Calibri"/>
              </a:rPr>
              <a:t>BMS
(real / mock)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113264" y="5623560"/>
            <a:ext cx="12984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0">
                <a:solidFill>
                  <a:srgbClr val="5E727A"/>
                </a:solidFill>
                <a:latin typeface="Calibri"/>
              </a:rPr>
              <a:t>sheds load, saves 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1F1F"/>
                </a:solidFill>
                <a:latin typeface="Calibri"/>
              </a:rPr>
              <a:t>Psiog Digital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2062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E727A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E727A"/>
                </a:solidFill>
                <a:latin typeface="Calibri"/>
              </a:rPr>
              <a:t>2 / 12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2B4A"/>
                </a:solidFill>
                <a:latin typeface="Calibri"/>
              </a:rPr>
              <a:t>What the RFP asked for, what we 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Every quantitative gate exceeded. Scope expanded in 4 places.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37360"/>
            <a:ext cx="11064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RFP MANDATED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≥ 3 energy domains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consumption, demand, 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≥ 4 dashboard views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10 views (8 Streamlit + Grafana + Power BI)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175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Automated triggers on AI events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0175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email + SMS + BMS webhook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3832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3 AI/ML scenarios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33832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anomaly, forecast, peak optimization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≥ 80% test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749039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100% achieved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Anomaly F1 ≥ 0.88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114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0.927 measured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4805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Forecast MAPE ≤ 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4805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~2% measured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4632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LSTM-AE ROC-AUC ≥ 0.90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66160" y="48463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≥ 0.90 measured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21208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Budget ≤ ₹2,500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2120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✓ ₹0 (OSS + free tiers)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19202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SHIPPED BEYOND SCOPE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2860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Multi-agent 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22860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4 specialists + chat + sweep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6517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Human-in-the-loop advisor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26517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Approve/Dismiss on every suggestion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175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Append-only 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30175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Every AI → human decision recorded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3832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6-provider LLM wrapper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7824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Gemini / Groq / Ollama / OpenAI / Claude / HF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749039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Per-view AI recommendations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78240" y="3749039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Context-aware action strip on every 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1148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AI narrative captions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0" y="41148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Insights under every hero chart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480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Role-based auth + login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0" y="44805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Admin / Operator / Viewer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84632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Audit Log view (admin)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Decision history, approval rate stats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21208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A2B4A"/>
                </a:solidFill>
                <a:latin typeface="Calibri"/>
              </a:rPr>
              <a:t>Alert Settings UI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52120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Live LLM + SMTP config, no restart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3 / 12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2B4A"/>
                </a:solidFill>
                <a:latin typeface="Calibri"/>
              </a:rPr>
              <a:t>Five layers, production-ready, local-demo backed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Every teal pill is production; italics in brackets are the local-demo substitute.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37360"/>
            <a:ext cx="11064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01168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167128"/>
            <a:ext cx="457200" cy="365760"/>
          </a:xfrm>
          <a:prstGeom prst="roundRect">
            <a:avLst>
              <a:gd name="adj" fmla="val 30000"/>
            </a:avLst>
          </a:prstGeom>
          <a:solidFill>
            <a:srgbClr val="27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0312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Calibri"/>
              </a:rPr>
              <a:t>IoT Ingestion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Azure IoT Hub (dev: Mosquitto)  ·  paho-mqtt 2.1  ·  Event Hub consumer  ·  3 domains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2944368"/>
            <a:ext cx="457200" cy="365760"/>
          </a:xfrm>
          <a:prstGeom prst="roundRect">
            <a:avLst>
              <a:gd name="adj" fmla="val 30000"/>
            </a:avLst>
          </a:prstGeom>
          <a:solidFill>
            <a:srgbClr val="27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Calibri"/>
              </a:rPr>
              <a:t>Analytics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15468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ClickHouse Cloud (dev: Docker)  ·  Azure Data Lake Gen2 (dev: Azurite)  ·  dbt-core  ·  DuckDB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56616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21608"/>
            <a:ext cx="457200" cy="365760"/>
          </a:xfrm>
          <a:prstGeom prst="roundRect">
            <a:avLst>
              <a:gd name="adj" fmla="val 30000"/>
            </a:avLst>
          </a:prstGeom>
          <a:solidFill>
            <a:srgbClr val="27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65760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Calibri"/>
              </a:rPr>
              <a:t>AI / ML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393192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Agent orchestrator  ·  4 specialists + ChatAgent  ·  PyOD · LSTM-AE · Chronos · XGBoost · k-means  ·  Evidently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34340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31520" y="4498848"/>
            <a:ext cx="457200" cy="365760"/>
          </a:xfrm>
          <a:prstGeom prst="roundRect">
            <a:avLst>
              <a:gd name="adj" fmla="val 30000"/>
            </a:avLst>
          </a:prstGeom>
          <a:solidFill>
            <a:srgbClr val="27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43484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Calibri"/>
              </a:rPr>
              <a:t>Automated Triggers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70916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Azure Functions v4  ·  ACS email (dev: Mailpit)  ·  Twilio SMS  ·  BMS BACnet (dev: webhook)  ·  multi-recipient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1520" y="5276088"/>
            <a:ext cx="457200" cy="365760"/>
          </a:xfrm>
          <a:prstGeom prst="roundRect">
            <a:avLst>
              <a:gd name="adj" fmla="val 30000"/>
            </a:avLst>
          </a:prstGeom>
          <a:solidFill>
            <a:srgbClr val="27B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212079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A2B4A"/>
                </a:solidFill>
                <a:latin typeface="Calibri"/>
              </a:rPr>
              <a:t>Dashboards &amp; UX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86400"/>
            <a:ext cx="10149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Streamlit on Azure App Service (dev: localhost:8501)  ·  Grafana Cloud  ·  Power BI Service  ·  10 views  ·  Entra ID (dev: 3 accounts)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  <a:latin typeface="Calibri"/>
              </a:rPr>
              <a:t>Observability threads every layer: every agent step, LLM call, tool invocation, and dispatch is logged.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4 / 12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40">
                <a:solidFill>
                  <a:srgbClr val="28B3B4"/>
                </a:solidFill>
                <a:latin typeface="Calibri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1F1F"/>
                </a:solidFill>
                <a:latin typeface="Calibri"/>
              </a:rPr>
              <a:t>What ships today — a 5-layer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727A"/>
                </a:solidFill>
                <a:latin typeface="Calibri"/>
              </a:rPr>
              <a:t>690 unit + 55 integration tests · 100% backend coverage · every layer verified end-to-end.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194560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94360" y="2359152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8B3B4"/>
          </a:solidFill>
          <a:ln w="9525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35915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30428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F1F"/>
                </a:solidFill>
                <a:latin typeface="Calibri"/>
              </a:rPr>
              <a:t>IoT 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78608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Sensors in — data gets validated and stored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67712"/>
            <a:ext cx="7068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Device simulator (3 facilities × 6 types)  ·  Mosquitto MQTT broker (local)  ·  paho-mqtt publisher  ·  Azure IoT Hub (ready to create)  ·  Schema validator  ·  Pipeline → ClickHouse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999232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94360" y="3163824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4338CA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638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08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F1F"/>
                </a:solidFill>
                <a:latin typeface="Calibri"/>
              </a:rPr>
              <a:t>Analytics &amp;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383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Fast time-series database — the hot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072384"/>
            <a:ext cx="7068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ClickHouse 24.8 (Docker)  ·  DuckDB (ad-hoc analytics)  ·  dbt-core (transformations)  ·  Azure Blob · wattwiseblob2026 (LIVE)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03904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968496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E0A93D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96849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39136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F1F"/>
                </a:solidFill>
                <a:latin typeface="Calibri"/>
              </a:rPr>
              <a:t>AI / ML 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18795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The brain — 7 ML models + 8 agents + 6 LLM backends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877056"/>
            <a:ext cx="7068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PyOD ensemble (F1=0.927)  ·  LSTM Autoencoder (ROC-AUC ≥ 0.90)  ·  Chronos T5 forecast  ·  XGBoost peak optimizer  ·  k-means clustering  ·  Evidently drift monitor  ·  ToU cost engine  ·  4 specialist + 4 meta agents  ·  LLM wrapper (6 backends)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08576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773168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2FAF6B"/>
          </a:solidFill>
          <a:ln w="9525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77316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71830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F1F"/>
                </a:solidFill>
                <a:latin typeface="Calibri"/>
              </a:rPr>
              <a:t>Triggers · Human-approved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92624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AI advises, every state change needs an Approve click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681728"/>
            <a:ext cx="7068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Azure Functions (LIVE — 2 HTTP triggers)  ·  Gmail SMTP port 465 SSL  ·  Mock BMS webhook (localhost:9100)  ·  ActionHandler (100% coverage)  ·  Append-only audit log JSONL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413248"/>
            <a:ext cx="1127455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94360" y="5577840"/>
            <a:ext cx="384048" cy="384048"/>
          </a:xfrm>
          <a:prstGeom prst="roundRect">
            <a:avLst>
              <a:gd name="adj" fmla="val 30000"/>
            </a:avLst>
          </a:prstGeom>
          <a:solidFill>
            <a:srgbClr val="03514D"/>
          </a:solidFill>
          <a:ln w="9525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557784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52297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0E1F1F"/>
                </a:solidFill>
                <a:latin typeface="Calibri"/>
              </a:rPr>
              <a:t>Dashboards &amp; UX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5797296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10 Streamlit views + Mock BMS console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486400"/>
            <a:ext cx="706831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Morning Briefing (daily)  ·  Real-Time / Demand / Cost / Benchmark  ·  AI Optimization (3 tabs)  ·  AI Chat Agent (10 tools)  ·  Full Agent Sweep  ·  Audit Log + Alert Settings (admin)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6263640"/>
            <a:ext cx="11274552" cy="457200"/>
          </a:xfrm>
          <a:prstGeom prst="roundRect">
            <a:avLst>
              <a:gd name="adj" fmla="val 8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6373368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E1F1F"/>
                </a:solidFill>
                <a:latin typeface="Calibri"/>
              </a:rPr>
              <a:t>OBSERVABILITY (every layer)  ·  Every agent step, LLM call, tool invocation and BMS dispatch is logged. Audit log is append-only JSONL. Ready for Azure Monitor + App Insights.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1F1F"/>
                </a:solidFill>
                <a:latin typeface="Calibri"/>
              </a:rPr>
              <a:t>Psiog Digital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E727A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E727A"/>
                </a:solidFill>
                <a:latin typeface="Calibri"/>
              </a:rPr>
              <a:t>5 / 12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IMPLEMENTATION ·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2B4A"/>
                </a:solidFill>
                <a:latin typeface="Calibri"/>
              </a:rPr>
              <a:t>Monday morning at Priya's desk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A real walk-through showing how the stack delivers value in under 60 seconds.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37360"/>
            <a:ext cx="11064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19202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92024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Priya opens WattWise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9456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Login → lands on Morning Briefing. The AI already ran overnight: 4 specialists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334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09:00:12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63347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AI advisor shows 3 recommendations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907791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Shed HVAC Zone-B 10-12 AM · ₹22,500/mo saved · 87% confidence · AnomalyAgent.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34670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09:00:45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467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Priya reviews, approves top 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621024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One click. ActionHandler records: AI SUGGESTED → HUMAN DECIDED → ACTION FIRED. Email sent.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5993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59935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Audit log updates in real 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334255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Compliance-ready: every suggestion + every decision timestamped and attributed.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77316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7731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Priya moves to Cost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047488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Second AI recommendation appears at top: shift laundry to off-peak, saves ₹4,200/mo.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48640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09:03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54864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A2B4A"/>
                </a:solidFill>
                <a:latin typeface="Calibri"/>
              </a:rPr>
              <a:t>Done. 10 hours/week saved.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The product paid for itself in that single peak-demand charge avoided.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6 / 12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AI LEVERAGE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2B4A"/>
                </a:solidFill>
                <a:latin typeface="Calibri"/>
              </a:rPr>
              <a:t>AI threaded through every layer, every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Six AI components. Human-in-the-loop everywhere. Zero auto-execution of consequential actions.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37360"/>
            <a:ext cx="11064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011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AGENT ORCHESTRATOR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ReAct loop · 4 specialists in parallel · fan-out with 15s per-specialist timeout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011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BRIEFINGAGENT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6060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Pre-computes top 3 action recommendations by (impact × confidence), deduped per device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01168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224028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FORENSICAGENT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60604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Drill-down reasoning chain: why flagged, hypothesis, recommended action, draft work order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02336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CAPTION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3-tier narrative generator (pre-compute / on-demand / template) under every hero chart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402336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VIEW RECOMMENDER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46177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Routes AI output per view; Indian ₹ formatting; business value framing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4023360"/>
            <a:ext cx="3566160" cy="18288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42519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7B5AD"/>
                </a:solidFill>
                <a:latin typeface="Calibri"/>
              </a:rPr>
              <a:t>LLM PROVIDER WRAPPER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617720"/>
            <a:ext cx="3200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Swap Gemini / Groq / Ollama / OpenAI / Claude / HF via one dropdown. No lock-in.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7 / 12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40">
                <a:solidFill>
                  <a:srgbClr val="28B3B4"/>
                </a:solidFill>
                <a:latin typeface="Calibri"/>
              </a:rPr>
              <a:t>AI ·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1F1F"/>
                </a:solidFill>
                <a:latin typeface="Calibri"/>
              </a:rPr>
              <a:t>How the user experiences the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727A"/>
                </a:solidFill>
                <a:latin typeface="Calibri"/>
              </a:rPr>
              <a:t>Technical term + plain English on each row. AI is the advisor, the human is the decision maker, every action is auditable.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194560"/>
            <a:ext cx="5500116" cy="4023360"/>
          </a:xfrm>
          <a:prstGeom prst="roundRect">
            <a:avLst>
              <a:gd name="adj" fmla="val 8000"/>
            </a:avLst>
          </a:prstGeom>
          <a:solidFill>
            <a:srgbClr val="E7F5F5"/>
          </a:solidFill>
          <a:ln w="9525">
            <a:solidFill>
              <a:srgbClr val="28B3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377440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40">
                <a:solidFill>
                  <a:srgbClr val="28B3B4"/>
                </a:solidFill>
                <a:latin typeface="Calibri"/>
              </a:rPr>
              <a:t>AI ACTS AUTOMATICALLY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F1F"/>
                </a:solidFill>
                <a:latin typeface="Calibri"/>
              </a:rPr>
              <a:t>Notifications only — the AI never changes building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182112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Anomaly detected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374136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(unusual energy spike)  →  email alert to ops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30167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03319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Peak forecast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95343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(tomorrow will hit the limit)  →  SMS to on-call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51374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24526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Compressor signature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16550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(equipment likely failing)  →  urgent email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672581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45733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Weekly digest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937757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(7-day summary auto-written)  →  emailed to CFO + ESG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193788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5266940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Drift detected on ML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458964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(data has changed, model stale)  →  data team notified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33872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03514D"/>
                </a:solidFill>
                <a:latin typeface="Calibri"/>
              </a:rPr>
              <a:t>Why: alerts are information, not decisions. No consent needed to tell someone.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31636" y="2194560"/>
            <a:ext cx="5500116" cy="4023360"/>
          </a:xfrm>
          <a:prstGeom prst="roundRect">
            <a:avLst>
              <a:gd name="adj" fmla="val 8000"/>
            </a:avLst>
          </a:prstGeom>
          <a:solidFill>
            <a:srgbClr val="FDF0DC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5956" y="2377440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spc="140">
                <a:solidFill>
                  <a:srgbClr val="E0A93D"/>
                </a:solidFill>
                <a:latin typeface="Calibri"/>
              </a:rPr>
              <a:t>HUMAN APPROVES CONSEQUENTIAL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5956" y="2697480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0E1F1F"/>
                </a:solidFill>
                <a:latin typeface="Calibri"/>
              </a:rPr>
              <a:t>AI suggests → Human reviews → Human clicks Approve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05956" y="3108960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3116" y="3182112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Shed HVAC Zone-B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43116" y="3374136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(turn off AC zone to save ₹)  →  BMS webhook fires on Approve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05956" y="3630167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43116" y="3703319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Dispatch technician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43116" y="3895343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(send someone to inspect)  →  ServiceNow ticket drafted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05956" y="4151374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43116" y="4224526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Shift laundry schedule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3116" y="4416550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(move loads to cheap off-peak)  →  BMS schedule written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05956" y="4672581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43116" y="4745733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Override peak threshold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43116" y="4937757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(raise/lower the pain line)  →  billing config updated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05956" y="5193788"/>
            <a:ext cx="4951476" cy="44805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43116" y="5266940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E1F1F"/>
                </a:solidFill>
                <a:latin typeface="Calibri"/>
              </a:rPr>
              <a:t>Approve work-order budget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43116" y="5458964"/>
            <a:ext cx="46771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5E727A"/>
                </a:solidFill>
                <a:latin typeface="Calibri"/>
              </a:rPr>
              <a:t>(pay for the inspection)  →  purchase order created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5956" y="5833872"/>
            <a:ext cx="495147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A93D"/>
                </a:solidFill>
                <a:latin typeface="Calibri"/>
              </a:rPr>
              <a:t>Why: anything that changes the building needs a human consent + audit entry.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1F1F"/>
                </a:solidFill>
                <a:latin typeface="Calibri"/>
              </a:rPr>
              <a:t>Psiog Digital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E727A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E727A"/>
                </a:solidFill>
                <a:latin typeface="Calibri"/>
              </a:rPr>
              <a:t>9 / 12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40">
                <a:solidFill>
                  <a:srgbClr val="28B3B4"/>
                </a:solidFill>
                <a:latin typeface="Calibri"/>
              </a:rPr>
              <a:t>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1F1F"/>
                </a:solidFill>
                <a:latin typeface="Calibri"/>
              </a:rPr>
              <a:t>The hard-rupee ROI — with the math shown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727A"/>
                </a:solidFill>
                <a:latin typeface="Calibri"/>
              </a:rPr>
              <a:t>Numbers for a mid-market customer: 3 facilities, ~₹8L/month electricity spend. Each estimate traces to a specific calculation.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194560"/>
            <a:ext cx="2715768" cy="2011680"/>
          </a:xfrm>
          <a:prstGeom prst="roundRect">
            <a:avLst>
              <a:gd name="adj" fmla="val 6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23160"/>
            <a:ext cx="2258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8B3B4"/>
                </a:solidFill>
                <a:latin typeface="Calibri"/>
              </a:rPr>
              <a:t>10–20%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24612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F1F"/>
                </a:solidFill>
                <a:latin typeface="Calibri"/>
              </a:rPr>
              <a:t>bill reduction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56616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727A"/>
                </a:solidFill>
                <a:latin typeface="Calibri"/>
              </a:rPr>
              <a:t>peak-shaving + ToU shifts + anomaly catches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10128" y="2194560"/>
            <a:ext cx="2715768" cy="2011680"/>
          </a:xfrm>
          <a:prstGeom prst="roundRect">
            <a:avLst>
              <a:gd name="adj" fmla="val 6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38728" y="2423160"/>
            <a:ext cx="2258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2FAF6B"/>
                </a:solidFill>
                <a:latin typeface="Calibri"/>
              </a:rPr>
              <a:t>~₹20L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24612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F1F"/>
                </a:solidFill>
                <a:latin typeface="Calibri"/>
              </a:rPr>
              <a:t>annual value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56616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727A"/>
                </a:solidFill>
                <a:latin typeface="Calibri"/>
              </a:rPr>
              <a:t>at a 3-facility mid-market customer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6" y="2194560"/>
            <a:ext cx="2715768" cy="2011680"/>
          </a:xfrm>
          <a:prstGeom prst="roundRect">
            <a:avLst>
              <a:gd name="adj" fmla="val 6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91656" y="2423160"/>
            <a:ext cx="2258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4338CA"/>
                </a:solidFill>
                <a:latin typeface="Calibri"/>
              </a:rPr>
              <a:t>~6 months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24612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F1F"/>
                </a:solidFill>
                <a:latin typeface="Calibri"/>
              </a:rPr>
              <a:t>payback period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356616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727A"/>
                </a:solidFill>
                <a:latin typeface="Calibri"/>
              </a:rPr>
              <a:t>platform cost vs recurring monthly savings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15984" y="2194560"/>
            <a:ext cx="2715768" cy="2011680"/>
          </a:xfrm>
          <a:prstGeom prst="roundRect">
            <a:avLst>
              <a:gd name="adj" fmla="val 6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4584" y="2423160"/>
            <a:ext cx="2258568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800" b="1">
                <a:solidFill>
                  <a:srgbClr val="E0A93D"/>
                </a:solidFill>
                <a:latin typeface="Calibri"/>
              </a:rPr>
              <a:t>10 hrs/wk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246120"/>
            <a:ext cx="225856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1F1F"/>
                </a:solidFill>
                <a:latin typeface="Calibri"/>
              </a:rPr>
              <a:t>manager time saved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44584" y="3566160"/>
            <a:ext cx="2258568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5E727A"/>
                </a:solidFill>
                <a:latin typeface="Calibri"/>
              </a:rPr>
              <a:t>per facility · eliminates manual CSV reporting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434840"/>
            <a:ext cx="11274552" cy="20116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720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0E1F1F"/>
                </a:solidFill>
                <a:latin typeface="Calibri"/>
              </a:rPr>
              <a:t>HOW WE ESTIMATED EACH NUMBER  ·  all math shown, nothing invented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4937760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10-20% bill reduction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4937760"/>
            <a:ext cx="8257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E1F1F"/>
                </a:solidFill>
                <a:latin typeface="Calibri"/>
              </a:rPr>
              <a:t>Peak-shaving 25 kW demand × ₹150/kW/month = ₹3,750/month per facility · plus ToU load shift (20% of 15,000 kWh × ₹6.5 delta = ₹19,500/month) · plus 1 avoided equipment failure/year (₹300,000 / 12 = ₹25,000/month amortised) · total ~₹48k/mo per facility on an avg bill of ~₹2.6L → 18%.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340096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~₹20L annual value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340096"/>
            <a:ext cx="8257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E1F1F"/>
                </a:solidFill>
                <a:latin typeface="Calibri"/>
              </a:rPr>
              <a:t>3 facilities × ₹48k/month × 12 months ≈ ₹17.3L. Rounded up to ₹20L to include compounding savings from load-pattern improvements and smarter contracts.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742432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~6 months payback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742432"/>
            <a:ext cx="8257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E1F1F"/>
                </a:solidFill>
                <a:latin typeface="Calibri"/>
              </a:rPr>
              <a:t>Platform cost estimate: ₹5L setup (Azure provisioning + integration + training) + ₹30k/mo recurring (Function App + Blob + monitoring). Monthly savings ₹1.44L → payback = ₹5L / ₹1.44L ≈ 3.5 months at bills, 6 months when loaded with change-mgmt time.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144768"/>
            <a:ext cx="23774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10 hrs/week manager 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144768"/>
            <a:ext cx="825703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0E1F1F"/>
                </a:solidFill>
                <a:latin typeface="Calibri"/>
              </a:rPr>
              <a:t>Baseline: 3-5 vendor portals × 30 min each + weekly CSV export + spreadsheet build + monthly bill review ≈ 10-12 hrs/week per facility. WattWise consolidates to one dashboard + AI advisor queue · ~15 min/day = 1.75 hrs/week.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1F1F"/>
                </a:solidFill>
                <a:latin typeface="Calibri"/>
              </a:rPr>
              <a:t>Psiog Digital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062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E727A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E727A"/>
                </a:solidFill>
                <a:latin typeface="Calibri"/>
              </a:rPr>
              <a:t>10 / 12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BY THE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1A2B4A"/>
                </a:solidFill>
                <a:latin typeface="Calibr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Every quantitative RFP target hit or exceeded. Full test coverage. Zero shortcuts.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37360"/>
            <a:ext cx="1106424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48640" y="21031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2402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579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tests passing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21031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22402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code coverage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1031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22402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8803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failures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36118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0.927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59" y="42519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anomaly F1 (RFP 0.88)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34747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1999" y="36118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~2%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1999" y="42519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forecast MAPE (RFP ≤8%)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19" y="34747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3611879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≥0.90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2519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LSTM-AE ROC-AUC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8463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" y="4983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59" y="56235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dashboard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97679" y="48463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1999" y="4983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1999" y="56235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LLM providers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19" y="4846320"/>
            <a:ext cx="3566160" cy="118872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9834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27B5AD"/>
                </a:solidFill>
                <a:latin typeface="Calibri"/>
              </a:rPr>
              <a:t>4+1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5623559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specialist agents + orchestrator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11 / 12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7B5AD"/>
                </a:solidFill>
                <a:latin typeface="Calibri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0312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0" i="0">
                <a:solidFill>
                  <a:srgbClr val="1A2B4A"/>
                </a:solidFill>
                <a:latin typeface="Calibr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0">
                <a:solidFill>
                  <a:srgbClr val="334155"/>
                </a:solidFill>
                <a:latin typeface="Calibri"/>
              </a:rPr>
              <a:t>Happy to go deeper on any layer, agent, or scenario.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4023360"/>
            <a:ext cx="5852160" cy="0"/>
          </a:xfrm>
          <a:prstGeom prst="line">
            <a:avLst/>
          </a:prstGeom>
          <a:ln w="31750">
            <a:solidFill>
              <a:srgbClr val="27B5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ARUNN THIAYAGARAJAN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1A2B4A"/>
                </a:solidFill>
                <a:latin typeface="Calibri"/>
              </a:rPr>
              <a:t>tac@psiog.com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WattWise AI  ·  IMPACT pSiddhi 3.0  ·  S4-I-14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42976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4748B"/>
                </a:solidFill>
                <a:latin typeface="Calibri"/>
              </a:rPr>
              <a:t>QUICK REFERENCE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57200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Architecture diagram  ·  docs/ARCHITECTURE.html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846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Model evidence  ·  docs/MODEL_EVIDENCE.md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5120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Blueprint  ·  PROJECT_BLUEPRINT.md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539496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Local demo  ·  streamlit run dashboards/streamlit/app.py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A2B4A"/>
                </a:solidFill>
                <a:latin typeface="Calibri"/>
              </a:rPr>
              <a:t>Psiog Digital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649224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4748B"/>
                </a:solidFill>
                <a:latin typeface="Calibri"/>
              </a:rPr>
              <a:t>12 / 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6446520"/>
            <a:ext cx="110642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spc="140">
                <a:solidFill>
                  <a:srgbClr val="28B3B4"/>
                </a:solidFill>
                <a:latin typeface="Calibri"/>
              </a:rPr>
              <a:t>AI ·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77240"/>
            <a:ext cx="1127455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0E1F1F"/>
                </a:solidFill>
                <a:latin typeface="Calibri"/>
              </a:rPr>
              <a:t>Who owns which ML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5E727A"/>
                </a:solidFill>
                <a:latin typeface="Calibri"/>
              </a:rPr>
              <a:t>Each specialist agent owns a small toolkit. Meta-agents don't own models — they borrow from the specialists.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1965960"/>
            <a:ext cx="11274552" cy="0"/>
          </a:xfrm>
          <a:prstGeom prst="line">
            <a:avLst/>
          </a:prstGeom>
          <a:ln w="12700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" y="2194560"/>
            <a:ext cx="11274552" cy="768096"/>
          </a:xfrm>
          <a:prstGeom prst="roundRect">
            <a:avLst>
              <a:gd name="adj" fmla="val 6000"/>
            </a:avLst>
          </a:prstGeom>
          <a:solidFill>
            <a:srgbClr val="ECEBFD"/>
          </a:solidFill>
          <a:ln w="1270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340864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4338CA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40864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2257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F1F"/>
                </a:solidFill>
                <a:latin typeface="Calibri"/>
              </a:rPr>
              <a:t>AnomalyAgent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596896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Spots unusual spikes + weird-shaped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2350008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377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PyOD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6946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point-based anomaly detector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2350008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2377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LSTM Autoencoder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569464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pattern-shape anomaly detector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145536"/>
            <a:ext cx="11274552" cy="768096"/>
          </a:xfrm>
          <a:prstGeom prst="roundRect">
            <a:avLst>
              <a:gd name="adj" fmla="val 6000"/>
            </a:avLst>
          </a:prstGeom>
          <a:solidFill>
            <a:srgbClr val="E6F4EC"/>
          </a:solidFill>
          <a:ln w="12700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" y="3291840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2FAF6B"/>
          </a:solidFill>
          <a:ln w="9525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291840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27355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F1F"/>
                </a:solidFill>
                <a:latin typeface="Calibri"/>
              </a:rPr>
              <a:t>ForecastAgent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3547872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Predicts tomorrow's load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00984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2FA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32841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Chronos T5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520440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Amazon time-series foundation model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096512"/>
            <a:ext cx="11274552" cy="768096"/>
          </a:xfrm>
          <a:prstGeom prst="roundRect">
            <a:avLst>
              <a:gd name="adj" fmla="val 6000"/>
            </a:avLst>
          </a:prstGeom>
          <a:solidFill>
            <a:srgbClr val="E7F5F5"/>
          </a:solidFill>
          <a:ln w="12700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0080" y="4242816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3514D"/>
          </a:solidFill>
          <a:ln w="9525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42816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22452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F1F"/>
                </a:solidFill>
                <a:latin typeface="Calibri"/>
              </a:rPr>
              <a:t>CostAgent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449884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Finds load-shift &amp; tariff savings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80560" y="4251960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0351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0" y="42793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ToU Cost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471416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kWh → ₹ translator with Indian tariff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5047488"/>
            <a:ext cx="11274552" cy="768096"/>
          </a:xfrm>
          <a:prstGeom prst="roundRect">
            <a:avLst>
              <a:gd name="adj" fmla="val 6000"/>
            </a:avLst>
          </a:prstGeom>
          <a:solidFill>
            <a:srgbClr val="FDF0DC"/>
          </a:solidFill>
          <a:ln w="12700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0080" y="5193792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0A93D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93792"/>
            <a:ext cx="47548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517550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E1F1F"/>
                </a:solidFill>
                <a:latin typeface="Calibri"/>
              </a:rPr>
              <a:t>OptimizerAgent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4440" y="5449824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5E727A"/>
                </a:solidFill>
                <a:latin typeface="Calibri"/>
              </a:rPr>
              <a:t>Ranks load-shed + spots cross-site waste + drift checks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5202936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0" y="52303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XGBoost Load Ranker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4223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picks what to shed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5202936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52303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k-means clustering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54223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groups similar facilities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5202936"/>
            <a:ext cx="2286000" cy="4572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E0A9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0" y="523036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E1F1F"/>
                </a:solidFill>
                <a:latin typeface="Calibri"/>
              </a:rPr>
              <a:t>Evidently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26880" y="5422392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>
                <a:solidFill>
                  <a:srgbClr val="5E727A"/>
                </a:solidFill>
                <a:latin typeface="Calibri"/>
              </a:rPr>
              <a:t>drift monitor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6089904"/>
            <a:ext cx="11274552" cy="777240"/>
          </a:xfrm>
          <a:prstGeom prst="roundRect">
            <a:avLst>
              <a:gd name="adj" fmla="val 6000"/>
            </a:avLst>
          </a:prstGeom>
          <a:solidFill>
            <a:srgbClr val="F3F6F6"/>
          </a:solidFill>
          <a:ln w="9525">
            <a:solidFill>
              <a:srgbClr val="DCE3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622706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spc="120">
                <a:solidFill>
                  <a:srgbClr val="0E1F1F"/>
                </a:solidFill>
                <a:latin typeface="Calibri"/>
              </a:rPr>
              <a:t>META-AGENTS  ·  don't own any ML model, they borrow from the 4 specialists above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92240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BriefingAgent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6665976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727A"/>
                </a:solidFill>
                <a:latin typeface="Calibri"/>
              </a:rPr>
              <a:t>fans out to all 4 specialists in parallel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12998" y="6492240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ForensicAgent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12998" y="6665976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727A"/>
                </a:solidFill>
                <a:latin typeface="Calibri"/>
              </a:rPr>
              <a:t>drill-down reasoning + work-order drafts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4476" y="6492240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EnergyOrchestrator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094476" y="6665976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727A"/>
                </a:solidFill>
                <a:latin typeface="Calibri"/>
              </a:rPr>
              <a:t>routes free-form questions to specialists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5954" y="6492240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3514D"/>
                </a:solidFill>
                <a:latin typeface="Calibri"/>
              </a:rPr>
              <a:t>ChatAgent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75954" y="6665976"/>
            <a:ext cx="259003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5E727A"/>
                </a:solidFill>
                <a:latin typeface="Calibri"/>
              </a:rPr>
              <a:t>natural-language Q&amp;A with 10 tools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49224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0E1F1F"/>
                </a:solidFill>
                <a:latin typeface="Calibri"/>
              </a:rPr>
              <a:t>Psiog Digital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206240" y="649224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5E727A"/>
                </a:solidFill>
                <a:latin typeface="Calibri"/>
              </a:rPr>
              <a:t>Prepared for L&amp;D  |  Confidential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17352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>
                <a:solidFill>
                  <a:srgbClr val="5E727A"/>
                </a:solidFill>
                <a:latin typeface="Calibri"/>
              </a:rPr>
              <a:t>8 / 12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457200" y="6446520"/>
            <a:ext cx="11274552" cy="0"/>
          </a:xfrm>
          <a:prstGeom prst="line">
            <a:avLst/>
          </a:prstGeom>
          <a:ln w="9525">
            <a:solidFill>
              <a:srgbClr val="DCE3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