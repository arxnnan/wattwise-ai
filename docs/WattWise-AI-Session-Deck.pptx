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6"/>
  </p:notesMasterIdLst>
  <p:sldIdLst>
    <p:sldId id="272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4" r:id="rId11"/>
    <p:sldId id="265" r:id="rId12"/>
    <p:sldId id="266" r:id="rId13"/>
    <p:sldId id="268" r:id="rId14"/>
    <p:sldId id="269" r:id="rId15"/>
  </p:sldIdLst>
  <p:sldSz cx="12161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60" y="29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B46BD-C125-477F-A4BB-95D56DB177E5}" type="datetimeFigureOut">
              <a:rPr lang="en-IN" smtClean="0"/>
              <a:t>14-10-2026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92150" y="1143000"/>
            <a:ext cx="5473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F5533-2D4F-4F15-B485-6FC37B0C986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5293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AF5533-2D4F-4F15-B485-6FC37B0C9866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4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10" name="Top Band"/>
          <p:cNvSpPr/>
          <p:nvPr/>
        </p:nvSpPr>
        <p:spPr>
          <a:xfrm>
            <a:off x="0" y="0"/>
            <a:ext cx="12153900" cy="114300"/>
          </a:xfrm>
          <a:prstGeom prst="rect">
            <a:avLst/>
          </a:prstGeom>
          <a:solidFill>
            <a:srgbClr val="27B5A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Bottom Band"/>
          <p:cNvSpPr/>
          <p:nvPr/>
        </p:nvSpPr>
        <p:spPr>
          <a:xfrm>
            <a:off x="0" y="6743700"/>
            <a:ext cx="12153900" cy="114300"/>
          </a:xfrm>
          <a:prstGeom prst="rect">
            <a:avLst/>
          </a:prstGeom>
          <a:solidFill>
            <a:srgbClr val="C4D8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21" name="Wedge Edge"/>
          <p:cNvCxnSpPr/>
          <p:nvPr/>
        </p:nvCxnSpPr>
        <p:spPr>
          <a:xfrm>
            <a:off x="8483600" y="228600"/>
            <a:ext cx="3670300" cy="3390900"/>
          </a:xfrm>
          <a:prstGeom prst="line">
            <a:avLst/>
          </a:prstGeom>
          <a:ln w="19050" cap="rnd">
            <a:solidFill>
              <a:srgbClr val="27B5AD"/>
            </a:solidFill>
          </a:ln>
        </p:spPr>
      </p:cxnSp>
      <p:sp>
        <p:nvSpPr>
          <p:cNvPr id="920" name="Corner Wedge"/>
          <p:cNvSpPr/>
          <p:nvPr/>
        </p:nvSpPr>
        <p:spPr>
          <a:xfrm>
            <a:off x="8483600" y="228600"/>
            <a:ext cx="3670300" cy="3390900"/>
          </a:xfrm>
          <a:custGeom>
            <a:avLst/>
            <a:gdLst/>
            <a:ahLst/>
            <a:cxnLst/>
            <a:rect l="0" t="0" r="3670300" b="3390900"/>
            <a:pathLst>
              <a:path w="3670300" h="3390900">
                <a:moveTo>
                  <a:pt x="0" y="0"/>
                </a:moveTo>
                <a:lnTo>
                  <a:pt x="3670300" y="0"/>
                </a:lnTo>
                <a:lnTo>
                  <a:pt x="3670300" y="3390900"/>
                </a:lnTo>
                <a:close/>
              </a:path>
            </a:pathLst>
          </a:custGeom>
          <a:solidFill>
            <a:srgbClr val="DCF1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0" i="0">
                <a:solidFill>
                  <a:srgbClr val="1A2B4A"/>
                </a:solidFill>
                <a:latin typeface="Calibri"/>
              </a:rPr>
              <a:t>WattWise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Agentic energy intelligence for commercial facilities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931920"/>
            <a:ext cx="5852160" cy="0"/>
          </a:xfrm>
          <a:prstGeom prst="line">
            <a:avLst/>
          </a:prstGeom>
          <a:ln w="31750">
            <a:solidFill>
              <a:srgbClr val="27B5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Problem  |  Functional scope  |  Architecture  |  Implementation  |  AI leverage  |  Scenarios  | 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035040"/>
            <a:ext cx="3657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dirty="0">
                <a:solidFill>
                  <a:srgbClr val="64748B"/>
                </a:solidFill>
                <a:latin typeface="Calibri"/>
              </a:rPr>
              <a:t>IMPACT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pSiddhi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3.0  |  1</a:t>
            </a:r>
            <a:r>
              <a:rPr lang="en-IN" sz="1000" b="0" i="0" dirty="0">
                <a:solidFill>
                  <a:srgbClr val="64748B"/>
                </a:solidFill>
                <a:latin typeface="Calibri"/>
              </a:rPr>
              <a:t>5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October 2026</a:t>
            </a:r>
          </a:p>
        </p:txBody>
      </p:sp>
    </p:spTree>
    <p:extLst>
      <p:ext uri="{BB962C8B-B14F-4D97-AF65-F5344CB8AC3E}">
        <p14:creationId xmlns:p14="http://schemas.microsoft.com/office/powerpoint/2010/main" val="487493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40">
                <a:solidFill>
                  <a:srgbClr val="28B3B4"/>
                </a:solidFill>
                <a:latin typeface="Calibri"/>
              </a:rPr>
              <a:t>KNOW YOUR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E1F1F"/>
                </a:solidFill>
                <a:latin typeface="Calibri"/>
              </a:rPr>
              <a:t>Energy intelligence for commercial &amp; industrial facilities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E727A"/>
                </a:solidFill>
                <a:latin typeface="Calibri"/>
              </a:rPr>
              <a:t>How the industry works today, where the AI fits, and what the end-user gets.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965960"/>
            <a:ext cx="11274552" cy="0"/>
          </a:xfrm>
          <a:prstGeom prst="line">
            <a:avLst/>
          </a:prstGeom>
          <a:ln w="12700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19456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3832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20">
                <a:solidFill>
                  <a:srgbClr val="28B3B4"/>
                </a:solidFill>
                <a:latin typeface="Calibri"/>
              </a:rPr>
              <a:t>THE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3832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E1F1F"/>
                </a:solidFill>
                <a:latin typeface="Calibri"/>
              </a:rPr>
              <a:t>Commercial &amp; industrial facilities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33832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F1F"/>
                </a:solidFill>
                <a:latin typeface="Calibri"/>
              </a:rPr>
              <a:t>Office HQs, warehouses, data centres, factories. They pay a 2-part electricity bill in India: units used (kWh) AND the single highest spike (kW demand charge). A 3-facility customer spends ~₹8 lakhs/month on power.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399" y="219456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FDF0DC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79" y="2331720"/>
            <a:ext cx="33832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20">
                <a:solidFill>
                  <a:srgbClr val="E0A93D"/>
                </a:solidFill>
                <a:latin typeface="Calibri"/>
              </a:rPr>
              <a:t>WHAT BREAKS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651760"/>
            <a:ext cx="33832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E1F1F"/>
                </a:solidFill>
                <a:latin typeface="Calibri"/>
              </a:rPr>
              <a:t>Energy is managed reactively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063240"/>
            <a:ext cx="33832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F1F"/>
                </a:solidFill>
                <a:latin typeface="Calibri"/>
              </a:rPr>
              <a:t>Peak demand charges = 30-40% of the bill, nobody actively manages them. Equipment faults are spotted only after the bill arrives. Facility managers juggle 3-5 vendor portals, 10+ hrs/week per site on reporting.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8" y="219456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 w="9525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8" y="2331720"/>
            <a:ext cx="33832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20">
                <a:solidFill>
                  <a:srgbClr val="2FAF6B"/>
                </a:solidFill>
                <a:latin typeface="Calibri"/>
              </a:rPr>
              <a:t>WHAT THE END USER GETS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8" y="2651760"/>
            <a:ext cx="33832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E1F1F"/>
                </a:solidFill>
                <a:latin typeface="Calibri"/>
              </a:rPr>
              <a:t>AI advises, human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8" y="3063240"/>
            <a:ext cx="33832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F1F"/>
                </a:solidFill>
                <a:latin typeface="Calibri"/>
              </a:rPr>
              <a:t>Every morning: 3 ranked recommendations in plain English with ₹ impact. One click to approve. BMS acts in 90 seconds. Facility manager spends ~15 min/day instead of hours.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26280"/>
            <a:ext cx="11274552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6634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90">
                <a:solidFill>
                  <a:srgbClr val="0E1F1F"/>
                </a:solidFill>
                <a:latin typeface="Calibri"/>
              </a:rPr>
              <a:t>HOW IoT + BMS WORKS IN A REAL BUILDING  ·  WattWise AI sits in the middle of this 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22376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8B3B4"/>
          </a:solidFill>
          <a:ln w="9525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Smart meters
+ sensors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measure kW every 15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8019" y="5478780"/>
            <a:ext cx="132892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727A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87524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278380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8B3B4"/>
          </a:solidFill>
          <a:ln w="9525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278380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3244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MQTT broker
or IoT 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3244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collects every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4023" y="5478780"/>
            <a:ext cx="132892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727A"/>
                </a:solidFill>
                <a:latin typeface="Calibri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3528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834384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8B3B4"/>
          </a:solidFill>
          <a:ln w="9525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34384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9248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ClickHouse 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9248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stores time-series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0027" y="5478780"/>
            <a:ext cx="132892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727A"/>
                </a:solidFill>
                <a:latin typeface="Calibri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99532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390388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952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90388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5252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WattWise AI
4 agents + ML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5252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spots problems,
writes advice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06031" y="5478780"/>
            <a:ext cx="132892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727A"/>
                </a:solidFill>
                <a:latin typeface="Calibri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55536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946392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FAF6B"/>
          </a:solidFill>
          <a:ln w="9525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46392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01256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Dashboard
+ operator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01256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reviews, clicks Approve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2035" y="5478780"/>
            <a:ext cx="132892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727A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11540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02396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0A93D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02396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7260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ActionHandler
+ audit log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57260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records decision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18039" y="5478780"/>
            <a:ext cx="132892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727A"/>
                </a:solidFill>
                <a:latin typeface="Calibri"/>
              </a:rPr>
              <a:t>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67544" y="5120640"/>
            <a:ext cx="1389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5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10058400" y="50200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3514D"/>
          </a:solidFill>
          <a:ln w="9525">
            <a:solidFill>
              <a:srgbClr val="035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058400" y="50200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13264" y="5193792"/>
            <a:ext cx="1298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E1F1F"/>
                </a:solidFill>
                <a:latin typeface="Calibri"/>
              </a:rPr>
              <a:t>BMS
(real / mock)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13264" y="5623560"/>
            <a:ext cx="1298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>
                <a:solidFill>
                  <a:srgbClr val="5E727A"/>
                </a:solidFill>
                <a:latin typeface="Calibri"/>
              </a:rPr>
              <a:t>sheds load, saves 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06240" y="6492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27A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17352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E727A"/>
                </a:solidFill>
                <a:latin typeface="Calibri"/>
              </a:rPr>
              <a:t>2 / 12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5" name="Picture 64">
            <a:extLst>
              <a:ext uri="{FF2B5EF4-FFF2-40B4-BE49-F238E27FC236}">
                <a16:creationId xmlns:a16="http://schemas.microsoft.com/office/drawing/2014/main" id="{8DAB6DDC-1C96-5958-ADCD-66E44984D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What the RFP asked for, what we delivered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Every quantitative gate exceeded. Scope expanded in 4 places.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RFP MANDATED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≥ 3 energy domains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consumption, demand,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≥ 4 dashboard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651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10 views (8 Streamlit + Grafana + Power BI)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Automated triggers on AI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email + SMS + BMS webhook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3 AI/ML scenarios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anomaly, forecast, peak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≥ 80% test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7490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100% achieved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Anomaly F1 ≥ 0.88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114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0.927 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805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Forecast MAPE ≤ 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480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~2% measured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463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LSTM-AE ROC-AUC ≥ 0.90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846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≥ 0.90 measured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Budget ≤ ₹2,500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2120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₹0 (OSS + free tiers)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SHIPPED BEYOND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860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Multi-agent 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286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4 specialists + chat + sweep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6517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Human-in-the-loop advisor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6517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Approve/Dismiss on every suggestion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Append-only 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30175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Every AI → human decision recorded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3832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6-provider LLM wrapper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383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Gemini / Groq / Ollama / OpenAI / Claude / HF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74903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Per-view AI recommendations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749039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Context-aware action strip on every 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1148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AI narrative captions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1148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Insights under every hero chart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805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Role-based auth + login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480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Admin / Operator / Viewer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Audit Log view (admin)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48463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Decision history, approval rate stats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212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Alert Settings UI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52120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Live LLM + SMTP config, no restart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3 / 12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C623D0B0-0445-496F-F4CD-8D614403B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 dirty="0">
                <a:solidFill>
                  <a:srgbClr val="1A2B4A"/>
                </a:solidFill>
                <a:latin typeface="Calibri"/>
              </a:rPr>
              <a:t>Five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Every teal pill is</a:t>
            </a:r>
            <a:r>
              <a:rPr lang="en-IN" sz="1400" b="0" i="0" dirty="0">
                <a:solidFill>
                  <a:srgbClr val="334155"/>
                </a:solidFill>
                <a:latin typeface="Calibri"/>
              </a:rPr>
              <a:t> cloud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; italics in brackets are the local-demo substitute.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01168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216712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0312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IoT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10149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Azure IoT Hub (dev: Mosquitto)  ·  paho-mqtt 2.1  ·  Event Hub consumer  ·  3 domains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294436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8036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Analytics 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54680"/>
            <a:ext cx="10149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ClickHouse Cloud (dev: Docker)  ·  Azure Data Lake Gen2 (dev: Azurite)  ·  dbt-core  ·  DuckDB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6616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1520" y="372160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AI / ML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31920"/>
            <a:ext cx="10149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Agent orchestrator  ·  4 specialists + ChatAgent  ·  PyOD · LSTM-AE · Chronos · XGBoost · k-means  ·  Evidently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40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1520" y="449884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348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Automated Triggers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709160"/>
            <a:ext cx="10149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Azure Functions v4  ·  ACS email (dev: Mailpit)  ·  Twilio SMS  ·  BMS BACnet (dev: webhook)  ·  multi-recipient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31520" y="527608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212079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Dashboards &amp;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486400"/>
            <a:ext cx="10149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Streamlit on Azure App Service (dev: localhost:8501)  ·  Grafana Cloud  ·  Power BI Service  ·  10 views  ·  Entra ID (dev: 3 accounts)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Observability threads every layer: every agent step, LLM call, tool invocation, and dispatch is logged.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4 / 12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D6EDC6DC-69F4-91F7-EB15-0EE94C26C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40">
                <a:solidFill>
                  <a:srgbClr val="28B3B4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E1F1F"/>
                </a:solidFill>
                <a:latin typeface="Calibri"/>
              </a:rPr>
              <a:t>What ships today — a 5-layer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E727A"/>
                </a:solidFill>
                <a:latin typeface="Calibri"/>
              </a:rPr>
              <a:t>690 unit + 55 integration tests · 100% backend coverage · every layer verified end-to-end.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965960"/>
            <a:ext cx="11274552" cy="0"/>
          </a:xfrm>
          <a:prstGeom prst="line">
            <a:avLst/>
          </a:prstGeom>
          <a:ln w="12700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194560"/>
            <a:ext cx="1127455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2359152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28B3B4"/>
          </a:solidFill>
          <a:ln w="9525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35915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042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0E1F1F"/>
                </a:solidFill>
                <a:latin typeface="Calibri"/>
              </a:rPr>
              <a:t>IoT 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7860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Sensors in — data gets validated and stored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67712"/>
            <a:ext cx="70683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E1F1F"/>
                </a:solidFill>
                <a:latin typeface="Calibri"/>
              </a:rPr>
              <a:t>Device simulator (3 facilities × 6 types)  ·  Mosquitto MQTT broker (local)  ·  paho-mqtt publisher  ·  Azure IoT Hub (ready to create)  ·  Schema validator  ·  Pipeline → ClickHouse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99232"/>
            <a:ext cx="1127455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" y="3163824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 w="952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1638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1089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0E1F1F"/>
                </a:solidFill>
                <a:latin typeface="Calibri"/>
              </a:rPr>
              <a:t>Analytics &amp; Storage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383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Fast time-series database — the hot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072384"/>
            <a:ext cx="70683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E1F1F"/>
                </a:solidFill>
                <a:latin typeface="Calibri"/>
              </a:rPr>
              <a:t>ClickHouse 24.8 (Docker)  ·  DuckDB (ad-hoc analytics)  ·  dbt-core (transformations)  ·  Azure Blob · wattwiseblob2026 (LIVE)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03904"/>
            <a:ext cx="1127455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94360" y="3968496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E0A93D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96849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9136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0E1F1F"/>
                </a:solidFill>
                <a:latin typeface="Calibri"/>
              </a:rPr>
              <a:t>AI / ML 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8795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The brain — 7 ML models + 8 agents + 6 LLM backends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877056"/>
            <a:ext cx="70683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E1F1F"/>
                </a:solidFill>
                <a:latin typeface="Calibri"/>
              </a:rPr>
              <a:t>PyOD ensemble (F1=0.927)  ·  LSTM Autoencoder (ROC-AUC ≥ 0.90)  ·  Chronos T5 forecast  ·  XGBoost peak optimizer  ·  k-means clustering  ·  Evidently drift monitor  ·  ToU cost engine  ·  4 specialist + 4 meta agents  ·  LLM wrapper (6 backends)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08576"/>
            <a:ext cx="1127455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94360" y="4773168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2FAF6B"/>
          </a:solidFill>
          <a:ln w="9525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47731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71830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0E1F1F"/>
                </a:solidFill>
                <a:latin typeface="Calibri"/>
              </a:rPr>
              <a:t>Triggers · Human-approved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9262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AI advises, every state change needs an Approve click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681728"/>
            <a:ext cx="70683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E1F1F"/>
                </a:solidFill>
                <a:latin typeface="Calibri"/>
              </a:rPr>
              <a:t>Azure Functions (LIVE — 2 HTTP triggers)  ·  Gmail SMTP port 465 SSL  ·  Mock BMS webhook (localhost:9100)  ·  ActionHandler (100% coverage)  ·  Append-only audit log JSONL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94360" y="557784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03514D"/>
          </a:solidFill>
          <a:ln w="9525">
            <a:solidFill>
              <a:srgbClr val="035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55778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522976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0E1F1F"/>
                </a:solidFill>
                <a:latin typeface="Calibri"/>
              </a:rPr>
              <a:t>Dashboards &amp; 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797296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10 Streamlit views + Mock BMS console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486400"/>
            <a:ext cx="70683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E1F1F"/>
                </a:solidFill>
                <a:latin typeface="Calibri"/>
              </a:rPr>
              <a:t>Morning Briefing (daily)  ·  Real-Time / Demand / Cost / Benchmark  ·  AI Optimization (3 tabs)  ·  AI Chat Agent (10 tools)  ·  Full Agent Sweep  ·  Audit Log + Alert Settings (admin)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263640"/>
            <a:ext cx="11274552" cy="457200"/>
          </a:xfrm>
          <a:prstGeom prst="roundRect">
            <a:avLst>
              <a:gd name="adj" fmla="val 8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6373368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E1F1F"/>
                </a:solidFill>
                <a:latin typeface="Calibri"/>
              </a:rPr>
              <a:t>OBSERVABILITY (every layer)  ·  Every agent step, LLM call, tool invocation and BMS dispatch is logged. Audit log is append-only JSONL. Ready for Azure Monitor + App Insights.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6492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27A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17352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E727A"/>
                </a:solidFill>
                <a:latin typeface="Calibri"/>
              </a:rPr>
              <a:t>5 / 12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>
            <a:extLst>
              <a:ext uri="{FF2B5EF4-FFF2-40B4-BE49-F238E27FC236}">
                <a16:creationId xmlns:a16="http://schemas.microsoft.com/office/drawing/2014/main" id="{36AAE129-CD75-6B6F-4990-62E1C208D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IMPLEMENTATION ·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Monday morning at Priya's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A real walk-through showing how the stack delivers value in under 60 seconds.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Priya opens WattWise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9456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Login → lands on Morning Briefing. The AI already ran overnight: 4 specialists in parallel.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334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09:00:12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33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AI advisor shows 3 recommendations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907791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Shed HVAC Zone-B 10-12 AM · ₹22,500/mo saved · 87% confidence · AnomalyAgent.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09:00:45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467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Priya reviews, approves top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2102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One click. ActionHandler records: AI SUGGESTED → HUMAN DECIDED → ACTION FIRED. Email sent.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5993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59935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Audit log updates in real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334255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Compliance-ready: every suggestion + every decision timestamped and attributed.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731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7316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Priya moves to Cost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4748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Second AI recommendation appears at top: shift laundry to off-peak, saves ₹4,200/mo.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864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48640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Done. 10 hours/week saved.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The product paid for itself in that single peak-demand charge avoided.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6 / 12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F293C4D9-601B-2F23-B609-E69F42492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AI LEVERAGE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AI threaded through every layer, every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Six AI components. Human-in-the-loop everywhere. Zero auto-execution of consequential actions.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AGENT 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ReAct loop · 4 specialists in parallel · fan-out with 15s per-specialist timeout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0116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79" y="2240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BRIEFINGAGENT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0604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Pre-computes top 3 action recommendations by (impact × confidence), deduped per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0116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19" y="2240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FORENSICAGENT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60604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Drill-down reasoning chain: why flagged, hypothesis, recommended action, draft work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CAPTION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1772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3-tier narrative generator (pre-compute / on-demand / template) under every hero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02336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79" y="42519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VIEW RECOMMENDER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461772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Routes AI output per view; Indian ₹ formatting; business value framing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02336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19" y="42519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LLM PROVIDER WRAPPER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61772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Swap Gemini / Groq / Ollama / OpenAI / Claude / HF via one dropdown. No lock-in.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7 / 12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A69B28BF-0313-1BAC-05F4-BE0F2360C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40">
                <a:solidFill>
                  <a:srgbClr val="28B3B4"/>
                </a:solidFill>
                <a:latin typeface="Calibri"/>
              </a:rPr>
              <a:t>AI ·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E1F1F"/>
                </a:solidFill>
                <a:latin typeface="Calibri"/>
              </a:rPr>
              <a:t>Who owns which ML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E727A"/>
                </a:solidFill>
                <a:latin typeface="Calibri"/>
              </a:rPr>
              <a:t>Each specialist agent owns a small toolkit. Meta-agents don't own models — they borrow from the specialists.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965960"/>
            <a:ext cx="11274552" cy="0"/>
          </a:xfrm>
          <a:prstGeom prst="line">
            <a:avLst/>
          </a:prstGeom>
          <a:ln w="12700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0944" y="2057400"/>
            <a:ext cx="11274552" cy="768096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3824" y="220370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952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824" y="220370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8184" y="2185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F1F"/>
                </a:solidFill>
                <a:latin typeface="Calibri"/>
              </a:rPr>
              <a:t>AnomalyAgent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8184" y="24597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Spots unusual spikes + weird-shaped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304" y="2212848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35744" y="224028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PyOD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744" y="2432304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point-based anomaly detector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21744" y="2212848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13184" y="224028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LSTM Autoencoder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3184" y="2432304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pattern-shape anomaly detector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944" y="3008376"/>
            <a:ext cx="11274552" cy="768096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 w="12700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824" y="31546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FAF6B"/>
          </a:solidFill>
          <a:ln w="9525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3824" y="315468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8184" y="313639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F1F"/>
                </a:solidFill>
                <a:latin typeface="Calibri"/>
              </a:rPr>
              <a:t>ForecastAgent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8184" y="34107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Predicts tomorrow's load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4304" y="3163824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2FA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5744" y="3191256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Chronos T5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744" y="338328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Amazon time-series foundation model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944" y="3959352"/>
            <a:ext cx="11274552" cy="768096"/>
          </a:xfrm>
          <a:prstGeom prst="roundRect">
            <a:avLst>
              <a:gd name="adj" fmla="val 6000"/>
            </a:avLst>
          </a:prstGeom>
          <a:solidFill>
            <a:srgbClr val="E7F5F5"/>
          </a:solidFill>
          <a:ln w="12700">
            <a:solidFill>
              <a:srgbClr val="035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03824" y="41056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3514D"/>
          </a:solidFill>
          <a:ln w="9525">
            <a:solidFill>
              <a:srgbClr val="035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3824" y="410565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8184" y="40873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F1F"/>
                </a:solidFill>
                <a:latin typeface="Calibri"/>
              </a:rPr>
              <a:t>CostAgent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8184" y="436168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Finds load-shift &amp; tariff savings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4304" y="4114800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035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35744" y="414223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ToU Cost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744" y="4334256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kWh → ₹ translator with Indian tariff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0944" y="4910328"/>
            <a:ext cx="11274552" cy="768096"/>
          </a:xfrm>
          <a:prstGeom prst="roundRect">
            <a:avLst>
              <a:gd name="adj" fmla="val 6000"/>
            </a:avLst>
          </a:prstGeom>
          <a:solidFill>
            <a:srgbClr val="FDF0DC"/>
          </a:solidFill>
          <a:ln w="12700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3824" y="50566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0A93D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824" y="5056632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8184" y="503834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F1F"/>
                </a:solidFill>
                <a:latin typeface="Calibri"/>
              </a:rPr>
              <a:t>OptimizerAgent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8184" y="5312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E727A"/>
                </a:solidFill>
                <a:latin typeface="Calibri"/>
              </a:rPr>
              <a:t>Ranks load-shed + spots cross-site waste + drift checks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44304" y="5065776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35744" y="509320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XGBoost Load Ranker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5744" y="528523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picks what to shed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21744" y="5065776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913184" y="509320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k-means clustering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13184" y="528523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groups similar facilities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99184" y="5065776"/>
            <a:ext cx="228600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290624" y="509320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E1F1F"/>
                </a:solidFill>
                <a:latin typeface="Calibri"/>
              </a:rPr>
              <a:t>Evidently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624" y="528523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27A"/>
                </a:solidFill>
                <a:latin typeface="Calibri"/>
              </a:rPr>
              <a:t>drift monitor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9872" y="5678424"/>
            <a:ext cx="11274552" cy="777240"/>
          </a:xfrm>
          <a:prstGeom prst="roundRect">
            <a:avLst>
              <a:gd name="adj" fmla="val 6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95264" y="581558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20">
                <a:solidFill>
                  <a:srgbClr val="0E1F1F"/>
                </a:solidFill>
                <a:latin typeface="Calibri"/>
              </a:rPr>
              <a:t>META-AGENTS  ·  don't own any ML model, they borrow from the 4 specialists above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5264" y="6080760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BriefingAgent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264" y="6254496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E727A"/>
                </a:solidFill>
                <a:latin typeface="Calibri"/>
              </a:rPr>
              <a:t>fans out to all 4 specialists in parallel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76742" y="6080760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ForensicAgent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6742" y="6254496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E727A"/>
                </a:solidFill>
                <a:latin typeface="Calibri"/>
              </a:rPr>
              <a:t>drill-down reasoning + work-order drafts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58220" y="6080760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EnergyOrchestrator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58220" y="6254496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E727A"/>
                </a:solidFill>
                <a:latin typeface="Calibri"/>
              </a:rPr>
              <a:t>routes free-form questions to specialists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9698" y="6080760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ChatAgent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39698" y="6254496"/>
            <a:ext cx="259003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E727A"/>
                </a:solidFill>
                <a:latin typeface="Calibri"/>
              </a:rPr>
              <a:t>natural-language Q&amp;A with 10 tools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8260" y="64897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27A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72536" y="64897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dirty="0">
                <a:solidFill>
                  <a:srgbClr val="5E727A"/>
                </a:solidFill>
                <a:latin typeface="Calibri"/>
              </a:rPr>
              <a:t>8 / 12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0944" y="6035040"/>
            <a:ext cx="11274552" cy="0"/>
          </a:xfrm>
          <a:prstGeom prst="line">
            <a:avLst/>
          </a:prstGeom>
          <a:ln w="9525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41C7272D-B170-1D39-A72F-FFD9CC1A6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40">
                <a:solidFill>
                  <a:srgbClr val="28B3B4"/>
                </a:solidFill>
                <a:latin typeface="Calibri"/>
              </a:rPr>
              <a:t>AI ·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E1F1F"/>
                </a:solidFill>
                <a:latin typeface="Calibri"/>
              </a:rPr>
              <a:t>How the user experiences 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E727A"/>
                </a:solidFill>
                <a:latin typeface="Calibri"/>
              </a:rPr>
              <a:t>Technical term + plain English on each row. AI is the advisor, the human is the decision maker, every action is auditable.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965960"/>
            <a:ext cx="11274552" cy="0"/>
          </a:xfrm>
          <a:prstGeom prst="line">
            <a:avLst/>
          </a:prstGeom>
          <a:ln w="12700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194560"/>
            <a:ext cx="5500116" cy="4023360"/>
          </a:xfrm>
          <a:prstGeom prst="roundRect">
            <a:avLst>
              <a:gd name="adj" fmla="val 8000"/>
            </a:avLst>
          </a:prstGeom>
          <a:solidFill>
            <a:srgbClr val="E7F5F5"/>
          </a:solidFill>
          <a:ln w="9525">
            <a:solidFill>
              <a:srgbClr val="28B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9514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40">
                <a:solidFill>
                  <a:srgbClr val="28B3B4"/>
                </a:solidFill>
                <a:latin typeface="Calibri"/>
              </a:rPr>
              <a:t>AI ACTS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9514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E1F1F"/>
                </a:solidFill>
                <a:latin typeface="Calibri"/>
              </a:rPr>
              <a:t>Notifications only — the AI never changes building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182112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Anomaly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74136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(unusual energy spike)  →  email alert to ops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30167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19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Peak forecast warning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95343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(tomorrow will hit the limit)  →  SMS to on-call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51374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6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Compressor signature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16550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(equipment likely failing)  →  urgent email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72581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745733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Weekly digest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57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(7-day summary auto-written)  →  emailed to CFO + ESG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93788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5266940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Drift detected on ML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58964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(data has changed, model stale)  →  data team notified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33872"/>
            <a:ext cx="49514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3514D"/>
                </a:solidFill>
                <a:latin typeface="Calibri"/>
              </a:rPr>
              <a:t>Why: alerts are information, not decisions. No consent needed to tell someone.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2194560"/>
            <a:ext cx="5500116" cy="4023360"/>
          </a:xfrm>
          <a:prstGeom prst="roundRect">
            <a:avLst>
              <a:gd name="adj" fmla="val 8000"/>
            </a:avLst>
          </a:prstGeom>
          <a:solidFill>
            <a:srgbClr val="FDF0DC"/>
          </a:solidFill>
          <a:ln w="9525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05956" y="2377440"/>
            <a:ext cx="49514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40">
                <a:solidFill>
                  <a:srgbClr val="E0A93D"/>
                </a:solidFill>
                <a:latin typeface="Calibri"/>
              </a:rPr>
              <a:t>HUMAN APPROVES CONSEQUENTIAL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5956" y="2697480"/>
            <a:ext cx="49514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E1F1F"/>
                </a:solidFill>
                <a:latin typeface="Calibri"/>
              </a:rPr>
              <a:t>AI suggests → Human reviews → Human clicks Approve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05956" y="3108960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43116" y="3182112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Shed HVAC Zone-B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3116" y="3374136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(turn off AC zone to save ₹)  →  BMS webhook fires on Approve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05956" y="3630167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43116" y="3703319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Dispatch technician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3116" y="3895343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(send someone to inspect)  →  ServiceNow ticket drafted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05956" y="4151374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43116" y="4224526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Shift laundry schedule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3116" y="4416550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(move loads to cheap off-peak)  →  BMS schedule written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05956" y="4672581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43116" y="4745733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Override peak threshold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3116" y="4937757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(raise/lower the pain line)  →  billing config updated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05956" y="5193788"/>
            <a:ext cx="4951476" cy="4480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43116" y="5266940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F1F"/>
                </a:solidFill>
                <a:latin typeface="Calibri"/>
              </a:rPr>
              <a:t>Approve work-order budget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3116" y="5458964"/>
            <a:ext cx="46771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27A"/>
                </a:solidFill>
                <a:latin typeface="Calibri"/>
              </a:rPr>
              <a:t>(pay for the inspection)  →  purchase order created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5956" y="5833872"/>
            <a:ext cx="49514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0A93D"/>
                </a:solidFill>
                <a:latin typeface="Calibri"/>
              </a:rPr>
              <a:t>Why: anything that changes the building needs a human consent + audit entry.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6492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27A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17352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E727A"/>
                </a:solidFill>
                <a:latin typeface="Calibri"/>
              </a:rPr>
              <a:t>9 / 12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5893C3FC-785E-810B-86C6-7A115EF33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40">
                <a:solidFill>
                  <a:srgbClr val="28B3B4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E1F1F"/>
                </a:solidFill>
                <a:latin typeface="Calibri"/>
              </a:rPr>
              <a:t>The hard-rupee ROI — with the math shown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E727A"/>
                </a:solidFill>
                <a:latin typeface="Calibri"/>
              </a:rPr>
              <a:t>Numbers for a mid-market customer: 3 facilities, ~₹8L/month electricity spend. Each estimate traces to a specific calculation.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965960"/>
            <a:ext cx="11274552" cy="0"/>
          </a:xfrm>
          <a:prstGeom prst="line">
            <a:avLst/>
          </a:prstGeom>
          <a:ln w="12700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194560"/>
            <a:ext cx="2715768" cy="2011680"/>
          </a:xfrm>
          <a:prstGeom prst="roundRect">
            <a:avLst>
              <a:gd name="adj" fmla="val 6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225856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28B3B4"/>
                </a:solidFill>
                <a:latin typeface="Calibri"/>
              </a:rPr>
              <a:t>10–20%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2585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1F1F"/>
                </a:solidFill>
                <a:latin typeface="Calibri"/>
              </a:rPr>
              <a:t>bill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225856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27A"/>
                </a:solidFill>
                <a:latin typeface="Calibri"/>
              </a:rPr>
              <a:t>peak-shaving + ToU shifts + anomaly catches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2194560"/>
            <a:ext cx="2715768" cy="2011680"/>
          </a:xfrm>
          <a:prstGeom prst="roundRect">
            <a:avLst>
              <a:gd name="adj" fmla="val 6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38728" y="2423160"/>
            <a:ext cx="225856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dirty="0">
                <a:solidFill>
                  <a:srgbClr val="2FAF6B"/>
                </a:solidFill>
                <a:latin typeface="Calibri"/>
              </a:rPr>
              <a:t>~₹20L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3246120"/>
            <a:ext cx="22585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1F1F"/>
                </a:solidFill>
                <a:latin typeface="Calibri"/>
              </a:rPr>
              <a:t>annual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566160"/>
            <a:ext cx="225856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27A"/>
                </a:solidFill>
                <a:latin typeface="Calibri"/>
              </a:rPr>
              <a:t>at a 3-facility mid-market customer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194560"/>
            <a:ext cx="2715768" cy="2011680"/>
          </a:xfrm>
          <a:prstGeom prst="roundRect">
            <a:avLst>
              <a:gd name="adj" fmla="val 6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6" y="2423160"/>
            <a:ext cx="225856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4338CA"/>
                </a:solidFill>
                <a:latin typeface="Calibri"/>
              </a:rPr>
              <a:t>~6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246120"/>
            <a:ext cx="22585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1F1F"/>
                </a:solidFill>
                <a:latin typeface="Calibri"/>
              </a:rPr>
              <a:t>payback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6" y="3566160"/>
            <a:ext cx="225856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27A"/>
                </a:solidFill>
                <a:latin typeface="Calibri"/>
              </a:rPr>
              <a:t>platform cost vs recurring monthly savings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2194560"/>
            <a:ext cx="2715768" cy="2011680"/>
          </a:xfrm>
          <a:prstGeom prst="roundRect">
            <a:avLst>
              <a:gd name="adj" fmla="val 6000"/>
            </a:avLst>
          </a:prstGeom>
          <a:solidFill>
            <a:srgbClr val="F3F6F6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44584" y="2423160"/>
            <a:ext cx="225856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E0A93D"/>
                </a:solidFill>
                <a:latin typeface="Calibri"/>
              </a:rPr>
              <a:t>10 hrs/wk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4584" y="3246120"/>
            <a:ext cx="22585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1F1F"/>
                </a:solidFill>
                <a:latin typeface="Calibri"/>
              </a:rPr>
              <a:t>manager time saved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3566160"/>
            <a:ext cx="225856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27A"/>
                </a:solidFill>
                <a:latin typeface="Calibri"/>
              </a:rPr>
              <a:t>per facility · eliminates manual CSV reporting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57200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20">
                <a:solidFill>
                  <a:srgbClr val="0E1F1F"/>
                </a:solidFill>
                <a:latin typeface="Calibri"/>
              </a:rPr>
              <a:t>HOW WE ESTIMATED EACH NUMBER  ·  all math shown, nothing invented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37760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10-20% bill reduction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937760"/>
            <a:ext cx="8257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0E1F1F"/>
                </a:solidFill>
                <a:latin typeface="Calibri"/>
              </a:rPr>
              <a:t>Peak-shaving 25 kW demand × ₹150/kW/month = ₹3,750/month per facility · plus ToU load shift (20% of 15,000 kWh × ₹6.5 delta = ₹19,500/month) · plus 1 avoided equipment failure/year (₹300,000 / 12 = ₹25,000/month amortised) · total ~₹48k/mo per facility on an avg bill of ~₹2.6L → 18%.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40096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3514D"/>
                </a:solidFill>
                <a:latin typeface="Calibri"/>
              </a:rPr>
              <a:t>~₹20L annual 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340096"/>
            <a:ext cx="8257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0E1F1F"/>
                </a:solidFill>
                <a:latin typeface="Calibri"/>
              </a:rPr>
              <a:t>3 facilities × ₹48k/month × 12 months ≈ ₹17.3L. Rounded up to ₹20L to include compounding savings from load-pattern improvements and smarter contracts.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74243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~6 months payback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42432"/>
            <a:ext cx="8257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0E1F1F"/>
                </a:solidFill>
                <a:latin typeface="Calibri"/>
              </a:rPr>
              <a:t>Platform cost estimate: ₹5L setup (Azure provisioning + integration + training) + ₹30k/mo recurring (Function App + Blob + monitoring). Monthly savings ₹1.44L → payback = ₹5L / ₹1.44L ≈ 3.5 months at bills, 6 months when loaded with change-mgmt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144768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3514D"/>
                </a:solidFill>
                <a:latin typeface="Calibri"/>
              </a:rPr>
              <a:t>10 hrs/week manager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144768"/>
            <a:ext cx="8257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0E1F1F"/>
                </a:solidFill>
                <a:latin typeface="Calibri"/>
              </a:rPr>
              <a:t>Baseline: 3-5 vendor portals × 30 min each + weekly CSV export + spreadsheet build + monthly bill review ≈ 10-12 hrs/week per facility. WattWise consolidates to one dashboard + AI advisor queue · ~15 min/day = 1.75 hrs/week.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6492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27A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17352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E727A"/>
                </a:solidFill>
                <a:latin typeface="Calibri"/>
              </a:rPr>
              <a:t>10 / 12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DCE3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853EC64B-A2A9-BF25-2AD7-C1792F8D3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Every quantitative RFP target hit or exceeded. Full test coverage. Zero shortcuts.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1031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240279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579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803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tests passing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1999" y="2240279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8803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code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1031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2240279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803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3611879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0.927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251959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anomaly F1 (RFP 0.88)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34747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1999" y="3611879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~2%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251959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forecast MAPE (RFP ≤8%)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4747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3611879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≥0.90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51959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LSTM-AE ROC-AUC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463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498348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623559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dashboard views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48463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1999" y="498348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23559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LLM providers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463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21040" y="498348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4+1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623559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specialist agents + 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>
            <a:extLst>
              <a:ext uri="{FF2B5EF4-FFF2-40B4-BE49-F238E27FC236}">
                <a16:creationId xmlns:a16="http://schemas.microsoft.com/office/drawing/2014/main" id="{421F6A17-1167-CCF2-CF63-AC21ADD71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0" i="0">
                <a:solidFill>
                  <a:srgbClr val="1A2B4A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"/>
              </a:rPr>
              <a:t>Happy to go deeper on any layer, agent, or scenario.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4023360"/>
            <a:ext cx="5852160" cy="0"/>
          </a:xfrm>
          <a:prstGeom prst="line">
            <a:avLst/>
          </a:prstGeom>
          <a:ln w="31750">
            <a:solidFill>
              <a:srgbClr val="27B5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2976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64748B"/>
                </a:solidFill>
                <a:latin typeface="Calibri"/>
              </a:rPr>
              <a:t>ARUNN THIAYAGARAJAN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297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QUICK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5720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Architecture diagram  ·  docs/ARCHITECTURE.html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8463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Model evidence  ·  docs/MODEL_EVIDENCE.md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1206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Blueprint  ·  PROJECT_BLUEPRINT.md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12 /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5FF188B3-674E-1E38-9215-862F282BE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6451600"/>
            <a:ext cx="533400" cy="2765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F40C4D6-963B-23D7-D2AB-C760B0C27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1" b="-1"/>
          <a:stretch>
            <a:fillRect/>
          </a:stretch>
        </p:blipFill>
        <p:spPr bwMode="auto">
          <a:xfrm>
            <a:off x="20" y="1282"/>
            <a:ext cx="12161817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073010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7EDDDC2-69E6-E55E-1958-9DE23489E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7" b="1"/>
          <a:stretch>
            <a:fillRect/>
          </a:stretch>
        </p:blipFill>
        <p:spPr bwMode="auto">
          <a:xfrm>
            <a:off x="20" y="1282"/>
            <a:ext cx="12161817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8054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91970255560]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7B5AD"/>
      </a:accent1>
      <a:accent2>
        <a:srgbClr val="1A2B4A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CD3480-45EB-441E-B23E-CBB1DBCF60F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387e766-357f-4d81-aeba-b6833b60be4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2182</Words>
  <Application>Microsoft Office PowerPoint</Application>
  <PresentationFormat>Custom</PresentationFormat>
  <Paragraphs>307</Paragraphs>
  <Slides>14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 [1791970255560]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Arunn Thiayagarajan</cp:lastModifiedBy>
  <cp:revision>4</cp:revision>
  <dcterms:created xsi:type="dcterms:W3CDTF">2013-01-27T09:14:16Z</dcterms:created>
  <dcterms:modified xsi:type="dcterms:W3CDTF">2026-10-15T04:46:59Z</dcterms:modified>
  <cp:category/>
</cp:coreProperties>
</file>