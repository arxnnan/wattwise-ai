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61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PREPARED FOR L&amp;D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A2B4A"/>
                </a:solidFill>
                <a:latin typeface="Calibri"/>
              </a:rPr>
              <a:t>WattWise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334155"/>
                </a:solidFill>
                <a:latin typeface="Calibri"/>
              </a:rPr>
              <a:t>Agentic energy intelligence for commercial facilities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931920"/>
            <a:ext cx="5852160" cy="0"/>
          </a:xfrm>
          <a:prstGeom prst="line">
            <a:avLst/>
          </a:prstGeom>
          <a:ln w="31750">
            <a:solidFill>
              <a:srgbClr val="27B5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Problem  |  Functional scope  |  Architecture  |  Implementation  |  AI leverage  |  Scenarios  | 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Prepared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6035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6035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IMPACT pSiddhi 3.0  |  S4-I-14  |  10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Energy is managed reactively, not intelligently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The pain is universal across commercial and industrial facilities in India.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103120"/>
            <a:ext cx="3566160" cy="2286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THE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51760"/>
            <a:ext cx="3200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Peak demand charges are 30-40% of a commercial bill. ToU rates swing 2x between peak and off-peak. Nobody actively manages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566160" cy="2286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THE WASTE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51760"/>
            <a:ext cx="3200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Equipment faults, scheduler misconfigurations, and after-hours load drive 10-20% of energy spend. Spotted only after the bill arrives.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103120"/>
            <a:ext cx="3566160" cy="2286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THE EFFORT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651760"/>
            <a:ext cx="3200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Calibri"/>
              </a:rPr>
              <a:t>Facility managers juggle 3-5 vendor portals, exports CSVs, builds spreadsheets. 10+ hrs/week per site on manual reporting.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6350">
            <a:solidFill>
              <a:srgbClr val="27B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THE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120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B4A"/>
                </a:solidFill>
                <a:latin typeface="Calibri"/>
              </a:rPr>
              <a:t>AI can see every meter in real-time, predict peaks before they hit, and tell the manager exactly what to do today — with ₹ impact and one-click approval. We built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2 / 11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What the RFP asked for, what we delivered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Every quantitative gate exceeded. Scope expanded in 4 places.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RFP MANDATED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≥ 3 energy domains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86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consumption, demand,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≥ 4 dashboard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6517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10 views (8 Streamlit + Grafana + Power BI)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Automated triggers on AI events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email + SMS + BMS webhook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3 AI/ML scenarios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anomaly, forecast, peak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≥ 80% test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74903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100% achieved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Anomaly F1 ≥ 0.88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114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0.927 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480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Forecast MAPE ≤ 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480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~2% measured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463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LSTM-AE ROC-AUC ≥ 0.90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8463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≥ 0.90 measured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12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Budget ≤ ₹2,500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52120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✓ ₹0 (OSS + free tiers)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SHIPPED BEYOND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86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Multi-agent 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286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4 specialists + chat + sweep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6517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Human-in-the-loop advisor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Approve/Dismiss on every suggestion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0175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Append-only 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3017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Every AI → human decision recorded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383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6-provider LLM wrapper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383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Gemini / Groq / Ollama / OpenAI / Claude / HF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Per-view AI recommendations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749039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Context-aware action strip on every 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114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AI narrative captions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114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Insights under every hero chart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4805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Role-based auth + login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480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Admin / Operator / Viewer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463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Audit Log view (admin)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48463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Decision history, approval rate stats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212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2B4A"/>
                </a:solidFill>
                <a:latin typeface="Calibri"/>
              </a:rPr>
              <a:t>Alert Settings UI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5212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Live LLM + SMTP config, no restart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3 / 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Five layers, production-ready, local-demo backed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Every teal pill is production; italics in brackets are the local-demo substitute.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01168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6712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103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IoT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Azure IoT Hub (dev: Mosquitto)  ·  paho-mqtt 2.1  ·  Event Hub consumer  ·  3 domains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94436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803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Analytics 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5468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ClickHouse Cloud (dev: Docker)  ·  Azure Data Lake Gen2 (dev: Azurite)  ·  dbt-core  ·  DuckDB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6616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72160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AI / ML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93192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Agent orchestrator  ·  4 specialists + ChatAgent  ·  PyOD · LSTM-AE · Chronos · XGBoost · k-means  ·  Evidently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4340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49884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4348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Automated Triggers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70916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Azure Functions v4  ·  ACS email (dev: Mailpit)  ·  Twilio SMS  ·  BMS BACnet (dev: webhook)  ·  multi-recipient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2064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276088"/>
            <a:ext cx="457200" cy="365760"/>
          </a:xfrm>
          <a:prstGeom prst="roundRect">
            <a:avLst>
              <a:gd name="adj" fmla="val 30000"/>
            </a:avLst>
          </a:prstGeom>
          <a:solidFill>
            <a:srgbClr val="27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212079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2B4A"/>
                </a:solidFill>
                <a:latin typeface="Calibri"/>
              </a:rPr>
              <a:t>Dashboards &amp; 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486400"/>
            <a:ext cx="10149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Streamlit on Azure App Service (dev: localhost:8501)  ·  Grafana Cloud  ·  Power BI Service  ·  10 views  ·  Entra ID (dev: 3 accounts)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Observability threads every layer: every agent step, LLM call, tool invocation, and dispatch is logged.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4 / 11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What ships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579 tests · 100% backend coverage · all five layers end-to-end verified.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011680"/>
            <a:ext cx="3566160" cy="39319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Smart-meter simulator (3 facilities, 6 device classes)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MQTT broker + ClickHouse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Azure IoT Hub + Event Hub consumer (code ready)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SAS token publisher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566160" cy="39319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21945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ML &amp;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606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PyOD ensemble anomaly detection (F1 = 0.927)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063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LSTM Autoencoder (ROC-AUC ≥ 0.90)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Chronos T5 forecasting (MAPE ~2%)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XGBoost peak optimizer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434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BriefingAgent + ForensicAgent + 4 specialists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4892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6-provider LLM wrapper (Gemini default)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2011680"/>
            <a:ext cx="3566160" cy="39319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TRIGGERS &amp;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26060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Azure Functions v4 (2 HTTP endpoints live)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3063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Gmail SMTP + Mailpit + Twilio + webhook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10 Streamlit views (login, briefing, 7 analytics, audit)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Role-based auth, Alert Settings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434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·  Human-in-the-loop ActionHandler + audit 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5 / 11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IMPLEMENTATION ·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Monday morning at Priya's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A real walk-through showing how the stack delivers value in under 60 seconds.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920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202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Priya opens WattWise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945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Login → lands on Morning Briefing. The AI already ran overnight: 4 specialists in parallel.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334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09:00:12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3347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AI advisor shows 3 recommendations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907791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Shed HVAC Zone-B 10-12 AM · ₹22,500/mo saved · 87% confidence · AnomalyAgent.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09:00:45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34670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Priya reviews, approves top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2102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One click. ActionHandler records: AI SUGGESTED → HUMAN DECIDED → ACTION FIRED. Email sent.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59935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59935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Audit log updates in real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334255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Compliance-ready: every suggestion + every decision timestamped and attributed.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731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77316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Priya moves to Cost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474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Second AI recommendation appears at top: shift laundry to off-peak, saves ₹4,200/mo.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864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09:03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4864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2B4A"/>
                </a:solidFill>
                <a:latin typeface="Calibri"/>
              </a:rPr>
              <a:t>Done. 10 hours/week saved.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The product paid for itself in that single peak-demand charge avoided.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6 / 11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AI LEVERAGE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AI threaded through every layer, every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Six AI components. Human-in-the-loop everywhere. Zero auto-execution of consequential actions.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AGENT ORCHESTRATOR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0604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ReAct loop · 4 specialists in parallel · fan-out with 15s per-specialist timeout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0116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79" y="2240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BRIEFINGAGENT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79" y="260604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Pre-computes top 3 action recommendations by (impact × confidence), deduped per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01168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2240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FORENSICAGENT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19" y="260604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Drill-down reasoning chain: why flagged, hypothesis, recommended action, draft work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CAPTION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177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3-tier narrative generator (pre-compute / on-demand / template) under every hero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02336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79" y="4251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VIEW RECOMMENDER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46177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Routes AI output per view; Indian ₹ formatting; business value framing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4023360"/>
            <a:ext cx="3566160" cy="18288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19" y="42519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7B5AD"/>
                </a:solidFill>
                <a:latin typeface="Calibri"/>
              </a:rPr>
              <a:t>LLM PROVIDER WRAPPER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6177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Swap Gemini / Groq / Ollama / OpenAI / Claude / HF via one dropdown. No lock-in.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7 / 11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AI ·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How the user experiences 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AI is the advisor. The human is the decision maker. Every action is auditable.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192024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6350">
            <a:solidFill>
              <a:srgbClr val="27B5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03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AI ACTS AUTOMATICALLY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334155"/>
                </a:solidFill>
                <a:latin typeface="Calibri"/>
              </a:rPr>
              <a:t>Notifications only — no state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Anomaly detected → email alert to ops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204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Peak forecast warning → SMS to on-call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Severe compressor signature → urgent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Weekly digest → auto-emailed to CFO + ESG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029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Drift detected on ML model → data team notified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760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Why: alerts are information, not decisions.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920240"/>
            <a:ext cx="5577840" cy="420624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6350">
            <a:solidFill>
              <a:srgbClr val="E0A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103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0802D"/>
                </a:solidFill>
                <a:latin typeface="Calibri"/>
              </a:rPr>
              <a:t>HUMAN APPROVES CONSEQUENTIAL 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334155"/>
                </a:solidFill>
                <a:latin typeface="Calibri"/>
              </a:rPr>
              <a:t>AI suggests · Human reviews · Human clicks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Shed HVAC Zone-B → BMS webhook fires on Approve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5204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Dispatch Rajesh for compressor → ServiceNow ticket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Shift laundry schedule → BMS schedule written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Override peak threshold → billing config updated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029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·  Approve work-order budget → PO created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760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64748B"/>
                </a:solidFill>
                <a:latin typeface="Calibri"/>
              </a:rPr>
              <a:t>Why: anything changing building state needs human consent.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8 / 11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The hard-rupee ROI, by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For a mid-market customer with 3 facilities paying ₹8L/month in electricity.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011680"/>
            <a:ext cx="2651760" cy="19202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B5AD"/>
                </a:solidFill>
                <a:latin typeface="Calibri"/>
              </a:rPr>
              <a:t>10-20%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bill 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via peak-shaving + ToU + anomaly catches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011680"/>
            <a:ext cx="2651760" cy="19202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1945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B5AD"/>
                </a:solidFill>
                <a:latin typeface="Calibri"/>
              </a:rPr>
              <a:t>~₹20L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annual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154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at a 3-facility mid-market customer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51760" cy="19202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1945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B5AD"/>
                </a:solidFill>
                <a:latin typeface="Calibri"/>
              </a:rPr>
              <a:t>~6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payback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154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across platform cost vs recurring savings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2011680"/>
            <a:ext cx="2651760" cy="192024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19456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7B5AD"/>
                </a:solidFill>
                <a:latin typeface="Calibri"/>
              </a:rPr>
              <a:t>10 hrs / week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8346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manager time saved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3154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Calibri"/>
              </a:rPr>
              <a:t>per facility; eliminates manual reporting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062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PERSONA-SPECIFIC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Facility Manager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5262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One dashboard, AI advisor queue. Zero juggling vendor portals.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103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CFO / Finance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9103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Live cost projection, demand-charge warnings, ESG-ready export.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2943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ESG Lead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5294376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Scope 2 ledger, kWh/sqft intensity, 3-week BRSR prep → 1 day.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678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2B4A"/>
                </a:solidFill>
                <a:latin typeface="Calibri"/>
              </a:rPr>
              <a:t>Ops Director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678424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Predictive maintenance catches equipment failures 2 weeks early.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9 / 11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A2B4A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Every quantitative RFP target hit or exceeded. Full test coverage. Zero shortcuts.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737360"/>
            <a:ext cx="110642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48640" y="21031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40279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579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tests passing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240279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code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21031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240279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80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4747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3611879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0.927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2519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anomaly F1 (RFP 0.88)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34747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3611879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~2%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2519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forecast MAPE (RFP ≤8%)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4747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611879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≥0.90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2519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LSTM-AE ROC-AUC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463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983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6235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dashboard views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48463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1999" y="4983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235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LLM providers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846320"/>
            <a:ext cx="3566160" cy="11887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9834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27B5AD"/>
                </a:solidFill>
                <a:latin typeface="Calibri"/>
              </a:rPr>
              <a:t>4+1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6235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specialist agents + orchestrator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10 / 11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7B5AD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A2B4A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"/>
              </a:rPr>
              <a:t>Happy to go deeper on any layer, agent, or scenario.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4023360"/>
            <a:ext cx="5852160" cy="0"/>
          </a:xfrm>
          <a:prstGeom prst="line">
            <a:avLst/>
          </a:prstGeom>
          <a:ln w="31750">
            <a:solidFill>
              <a:srgbClr val="27B5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297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ARUNN THIAYAGARAJAN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2B4A"/>
                </a:solidFill>
                <a:latin typeface="Calibri"/>
              </a:rPr>
              <a:t>tac@psiog.com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WattWise AI  ·  IMPACT pSiddhi 3.0  ·  S4-I-14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2976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Calibri"/>
              </a:rPr>
              <a:t>QUICK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Architecture diagram  ·  docs/ARCHITECTURE.html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4846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Model evidence  ·  docs/MODEL_EVIDENCE.md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120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Blueprint  ·  PROJECT_BLUEPRINT.md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Local demo  ·  streamlit run dashboards/streamlit/app.py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A2B4A"/>
                </a:solidFill>
                <a:latin typeface="Calibri"/>
              </a:rPr>
              <a:t>Psiog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6492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Prepared for L&amp;D  |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Calibri"/>
              </a:rPr>
              <a:t>11 / 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6424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